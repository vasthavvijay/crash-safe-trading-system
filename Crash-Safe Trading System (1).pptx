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Inter"/>
      <p:italic r:id="rId15"/>
    </p:embeddedFont>
    <p:embeddedFont>
      <p:font typeface="Urbanist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400425" y="4249042"/>
            <a:ext cx="990600" cy="371475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81525" y="4249042"/>
            <a:ext cx="1276350" cy="371475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48375" y="4249042"/>
            <a:ext cx="1085850" cy="371475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24725" y="4249042"/>
            <a:ext cx="1466850" cy="371475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6566" y="2237482"/>
            <a:ext cx="10938867" cy="7542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3F4F6"/>
                </a:solidFill>
                <a:latin typeface="Urbanist"/>
              </a:rPr>
              <a:t>Crash-Safe </a:t>
            </a:r>
            <a:r>
              <a:rPr sz="5400" b="1" i="0" u="none">
                <a:solidFill>
                  <a:srgbClr val="10B981"/>
                </a:solidFill>
                <a:latin typeface="Urbanist"/>
              </a:rPr>
              <a:t>Trading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187" y="3182242"/>
            <a:ext cx="107156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CA3AF"/>
                </a:solidFill>
                <a:latin typeface="Inter"/>
              </a:rPr>
              <a:t>Building a zero-data-loss financial matching engine using POSIX Write-Ahead Logging.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9950" y="4325242"/>
            <a:ext cx="971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0B981"/>
                </a:solidFill>
                <a:latin typeface="Fira Code"/>
              </a:rPr>
              <a:t>C (GNU)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4381" y="4325242"/>
            <a:ext cx="129063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0B981"/>
                </a:solidFill>
                <a:latin typeface="Fira Code"/>
              </a:rPr>
              <a:t>POSIX 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7900" y="4325242"/>
            <a:ext cx="1066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0B981"/>
                </a:solidFill>
                <a:latin typeface="Fira Code"/>
              </a:rPr>
              <a:t>File I/O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3768" y="4325242"/>
            <a:ext cx="152876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0B981"/>
                </a:solidFill>
                <a:latin typeface="Fira Code"/>
              </a:rPr>
              <a:t>Ubuntu/Linux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676400"/>
            <a:ext cx="52768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685925"/>
            <a:ext cx="5257800" cy="4552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Problem Statement &amp;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76400"/>
            <a:ext cx="5038725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The Problem: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Financial trading systems process thousands of orders in RAM for ultra-low latency. If the server crashes (power loss, kernel panic, OOM killer), all in-memory data is permanently lost.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2882"/>
            <a:ext cx="5038725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The Flaw of Standard I/O: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Standard C library file writing (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fwrite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,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fprintf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) buffers data in the OS page cache. A sudden crash still results in data loss before it physically hits the disk.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49365"/>
            <a:ext cx="5038725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The Solution (Concept):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Implement a </a:t>
            </a:r>
            <a:r>
              <a:rPr sz="1425" b="1" i="0" u="none">
                <a:solidFill>
                  <a:srgbClr val="F3F4F6"/>
                </a:solidFill>
                <a:latin typeface="Inter"/>
              </a:rPr>
              <a:t>Write-Ahead Log (WAL)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. Every transaction is appended to a log file and strictly synchronized to the physical disk using hardware-level OS commands </a:t>
            </a:r>
            <a:r>
              <a:rPr sz="1425" b="0" i="1" u="none">
                <a:solidFill>
                  <a:srgbClr val="9CA3AF"/>
                </a:solidFill>
                <a:latin typeface="Inter"/>
              </a:rPr>
              <a:t>before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the system updates the fast in-memory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1695450"/>
            <a:ext cx="1047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B82F6"/>
                </a:solidFill>
                <a:latin typeface="Fira Code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081932"/>
            <a:ext cx="1047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B82F6"/>
                </a:solidFill>
                <a:latin typeface="Fira Code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468415"/>
            <a:ext cx="1047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3B82F6"/>
                </a:solidFill>
                <a:latin typeface="Fira Code"/>
              </a:rPr>
              <a:t>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94610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346150"/>
            <a:ext cx="5372100" cy="2487662"/>
          </a:xfrm>
          <a:prstGeom prst="roundRect">
            <a:avLst>
              <a:gd name="adj" fmla="val 459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8875" y="1346150"/>
            <a:ext cx="5372100" cy="2487662"/>
          </a:xfrm>
          <a:prstGeom prst="roundRect">
            <a:avLst>
              <a:gd name="adj" fmla="val 459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4119562"/>
            <a:ext cx="5372100" cy="2487662"/>
          </a:xfrm>
          <a:prstGeom prst="roundRect">
            <a:avLst>
              <a:gd name="adj" fmla="val 459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8875" y="4119562"/>
            <a:ext cx="5372100" cy="2487662"/>
          </a:xfrm>
          <a:prstGeom prst="roundRect">
            <a:avLst>
              <a:gd name="adj" fmla="val 4594"/>
            </a:avLst>
          </a:prstGeom>
          <a:solidFill>
            <a:srgbClr val="1F2937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689050"/>
            <a:ext cx="46863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1689050"/>
            <a:ext cx="46863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462462"/>
            <a:ext cx="46863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462462"/>
            <a:ext cx="46863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25077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System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Interaction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184350"/>
            <a:ext cx="61507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1. Startup &amp;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622500"/>
            <a:ext cx="47815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The system boots, detects existing log files, and automatically replays history sequentially to reconstruct the exact database memory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184350"/>
            <a:ext cx="56102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2. Active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2622500"/>
            <a:ext cx="47815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The system waits for trading orders, running entirely in high-speed RAM while safely logging transactions to the WAL in the background.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957762"/>
            <a:ext cx="61507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3. Graceful Shutdown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5395912"/>
            <a:ext cx="47815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User issues a stop command. The OS signal is caught, remaining memory buffers are safely flushed, and file descriptors close safely.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4957762"/>
            <a:ext cx="56102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4. Disaster 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5395912"/>
            <a:ext cx="47815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The user forces a hard crash via Linux terminal (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kill -9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). The system reboots and proves 100% data retention of committed orders.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151929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551979"/>
            <a:ext cx="5372100" cy="2281832"/>
          </a:xfrm>
          <a:prstGeom prst="roundRect">
            <a:avLst>
              <a:gd name="adj" fmla="val 5009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8875" y="1551979"/>
            <a:ext cx="5372100" cy="2281832"/>
          </a:xfrm>
          <a:prstGeom prst="roundRect">
            <a:avLst>
              <a:gd name="adj" fmla="val 5009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4119562"/>
            <a:ext cx="5372100" cy="2281832"/>
          </a:xfrm>
          <a:prstGeom prst="roundRect">
            <a:avLst>
              <a:gd name="adj" fmla="val 5009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38875" y="4119562"/>
            <a:ext cx="5372100" cy="2281832"/>
          </a:xfrm>
          <a:prstGeom prst="roundRect">
            <a:avLst>
              <a:gd name="adj" fmla="val 5009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456604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Core OS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1894879"/>
            <a:ext cx="61507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Synchronous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333029"/>
            <a:ext cx="47815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Utilizing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fdatasync()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bypasses the OS page cache, forcing the NVMe/SSD storage controller to physically write the data before the program thread is allowed to continue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1894879"/>
            <a:ext cx="56102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Data Packing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333029"/>
            <a:ext cx="47815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Using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__attribute__((packed))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disables standard C compiler padding to ensure memory structs align identically with raw disk bytes, preventing cross-architecture corruption.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462462"/>
            <a:ext cx="61507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Signal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900612"/>
            <a:ext cx="478155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Intercepting OS interrupts (like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SIGINT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via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sigaction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) prevents immediate termination, allowing the program to safely clean up resources and exit gracefully.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462462"/>
            <a:ext cx="56102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Atomicity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900612"/>
            <a:ext cx="478155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Writing in fixed-size binary blocks ensures a write either completes fully or fails entirely. The system validates the exact byte count written to prevent state corruption.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1025" y="3957637"/>
            <a:ext cx="11029950" cy="381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Implementation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Working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6935" y="4014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27944" y="4014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58953" y="4014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189961" y="40147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4653" y="4548187"/>
            <a:ext cx="332951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Urbanist"/>
              </a:rPr>
              <a:t>Initialization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28" y="4986337"/>
            <a:ext cx="317096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Register OS signal handlers and open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engine_wal.dat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using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O_RDWR | O_CREAT | O_APPEND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5662" y="2190154"/>
            <a:ext cx="332951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Urbanist"/>
              </a:rPr>
              <a:t>Phase 1: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4936" y="2628304"/>
            <a:ext cx="3170969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Seek to byte 0. Read chunks matching the exact struct size. Rebuild total volume and order counts.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6671" y="4548187"/>
            <a:ext cx="332951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Urbanist"/>
              </a:rPr>
              <a:t>Phase 2: Durability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945" y="4986337"/>
            <a:ext cx="3170969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Intercept new order. Call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write()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to OS buffer, then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fdatasync()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to physical disk.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79" y="2479625"/>
            <a:ext cx="3329517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10B981"/>
                </a:solidFill>
                <a:latin typeface="Urbanist"/>
              </a:rPr>
              <a:t>Phase 3: 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6953" y="2917775"/>
            <a:ext cx="3170969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Only after hardware disk sync returns success, update the fast in-memory variables.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676400"/>
            <a:ext cx="4991100" cy="4600575"/>
          </a:xfrm>
          <a:prstGeom prst="roundRect">
            <a:avLst>
              <a:gd name="adj" fmla="val 248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48375" y="1676400"/>
            <a:ext cx="5562600" cy="4600575"/>
          </a:xfrm>
          <a:prstGeom prst="roundRect">
            <a:avLst>
              <a:gd name="adj" fmla="val 248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2457450"/>
            <a:ext cx="4305300" cy="3143250"/>
          </a:xfrm>
          <a:prstGeom prst="roundRect">
            <a:avLst>
              <a:gd name="adj" fmla="val 2424"/>
            </a:avLst>
          </a:prstGeom>
          <a:solidFill>
            <a:srgbClr val="0B0E1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91275" y="2457450"/>
            <a:ext cx="4876800" cy="2457450"/>
          </a:xfrm>
          <a:prstGeom prst="roundRect">
            <a:avLst>
              <a:gd name="adj" fmla="val 3100"/>
            </a:avLst>
          </a:prstGeom>
          <a:solidFill>
            <a:srgbClr val="0B0E1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Algorithm &amp;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Technical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019300"/>
            <a:ext cx="5650706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Write-Ahead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2647950"/>
            <a:ext cx="4019550" cy="2762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2AAFF"/>
                </a:solidFill>
                <a:latin typeface="Fira Code"/>
              </a:rPr>
              <a:t>write_order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(file_desc, new_order): bytes =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write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(file_desc, new_order)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if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bytes != struct_size: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return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ERROR status =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fdatasync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(file_desc)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if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status != 0: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return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ERROR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Only runs if hardware confirms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82AAFF"/>
                </a:solidFill>
                <a:latin typeface="Fira Code"/>
              </a:rPr>
              <a:t>update_memory_state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()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return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275" y="2019300"/>
            <a:ext cx="580072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Recovery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647950"/>
            <a:ext cx="4591050" cy="2076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2AAFF"/>
                </a:solidFill>
                <a:latin typeface="Fira Code"/>
              </a:rPr>
              <a:t>recover_state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(file_desc):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Jump to start of WAL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lseek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(file_desc, 0, SEEK_SET)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Read exactly one struct at a time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while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read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(file_desc, buffer) == struct_size: </a:t>
            </a:r>
            <a:r>
              <a:rPr sz="1200" b="0" i="0" u="none">
                <a:solidFill>
                  <a:srgbClr val="82AAFF"/>
                </a:solidFill>
                <a:latin typeface="Fira Code"/>
              </a:rPr>
              <a:t>rebuild_state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(buffer) </a:t>
            </a:r>
            <a:r>
              <a:rPr sz="1200" b="0" i="0" u="none">
                <a:solidFill>
                  <a:srgbClr val="89DDFF"/>
                </a:solidFill>
                <a:latin typeface="Fira Code"/>
              </a:rPr>
              <a:t>return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SUCCESS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52768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3361878"/>
            <a:ext cx="4591050" cy="2000250"/>
          </a:xfrm>
          <a:prstGeom prst="roundRect">
            <a:avLst>
              <a:gd name="adj" fmla="val 3809"/>
            </a:avLst>
          </a:prstGeom>
          <a:solidFill>
            <a:srgbClr val="0B0E1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564070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Core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Data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676400"/>
            <a:ext cx="5372100" cy="1447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The system relies on a meticulously defined C struct. By preventing compiler padding, the exact 25-byte footprint in RAM translates perfectly to the disk layout. We use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open()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instead of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fopen()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to maintain strict control over file descriptors.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552378"/>
            <a:ext cx="43053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89DDFF"/>
                </a:solidFill>
                <a:latin typeface="Fira Code"/>
              </a:rPr>
              <a:t>typedef struct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__attribute__((packed)) {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uint32_t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order_id;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4 bytes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char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symbol[8];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8 bytes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uint32_t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quantity;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4 bytes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double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price;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8 bytes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char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side;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1 byte ('B'/'S')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 } </a:t>
            </a:r>
            <a:r>
              <a:rPr sz="1200" b="0" i="0" u="none">
                <a:solidFill>
                  <a:srgbClr val="F07178"/>
                </a:solidFill>
                <a:latin typeface="Fira Code"/>
              </a:rPr>
              <a:t>Order</a:t>
            </a:r>
            <a:r>
              <a:rPr sz="1200" b="0" i="0" u="none">
                <a:solidFill>
                  <a:srgbClr val="A6ACCD"/>
                </a:solidFill>
                <a:latin typeface="Fira Code"/>
              </a:rPr>
              <a:t>; </a:t>
            </a:r>
            <a:r>
              <a:rPr sz="1200" b="0" i="0" u="none">
                <a:solidFill>
                  <a:srgbClr val="C3E88D"/>
                </a:solidFill>
                <a:latin typeface="Fira Code"/>
              </a:rPr>
              <a:t>// Total: exactly 25 bytes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069925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469975"/>
            <a:ext cx="11029950" cy="68580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2346275"/>
            <a:ext cx="11029950" cy="685800"/>
          </a:xfrm>
          <a:prstGeom prst="roundRect">
            <a:avLst>
              <a:gd name="adj" fmla="val 11111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3222575"/>
            <a:ext cx="11029950" cy="959941"/>
          </a:xfrm>
          <a:prstGeom prst="roundRect">
            <a:avLst>
              <a:gd name="adj" fmla="val 7937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81025" y="4373016"/>
            <a:ext cx="11029950" cy="959941"/>
          </a:xfrm>
          <a:prstGeom prst="roundRect">
            <a:avLst>
              <a:gd name="adj" fmla="val 7937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81025" y="5523458"/>
            <a:ext cx="11029950" cy="959941"/>
          </a:xfrm>
          <a:prstGeom prst="roundRect">
            <a:avLst>
              <a:gd name="adj" fmla="val 7937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1469975"/>
            <a:ext cx="38100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2346275"/>
            <a:ext cx="38100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222575"/>
            <a:ext cx="38100" cy="95994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4373016"/>
            <a:ext cx="38100" cy="95994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5523458"/>
            <a:ext cx="38100" cy="95994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025" y="374600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Step-by-Step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1660475"/>
            <a:ext cx="666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Fira Cod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375" y="1668065"/>
            <a:ext cx="7441406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Order Ingestion: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System generates Order #1: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BUY 50 AAPL @ $155.00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2536775"/>
            <a:ext cx="666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Fira Cod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375" y="2544365"/>
            <a:ext cx="10715625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OS Buffer Write: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write()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syscall pushes the 25-byte struct from program memory into the OS kernel page cache.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3550146"/>
            <a:ext cx="666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Fira Code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375" y="3413075"/>
            <a:ext cx="9991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Hardware Sync: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fdatasync()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blocks the executing thread. The kernel explicitly instructs the storage controller to flush its volatile cache.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250" y="4700587"/>
            <a:ext cx="666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Fira Cod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6375" y="4563516"/>
            <a:ext cx="9991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Controller Confirmation: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The storage hardware replies "Done" to the kernel.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fdatasync()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returns control to the program.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5851028"/>
            <a:ext cx="6667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Fira Cod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6375" y="5713958"/>
            <a:ext cx="9991725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Memory Update &amp; Acknowledge: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The system increments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total_orders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in RAM and outputs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[COMMITTED] ID: 1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to the user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676400"/>
            <a:ext cx="11029950" cy="3460849"/>
          </a:xfrm>
          <a:prstGeom prst="roundRect">
            <a:avLst>
              <a:gd name="adj" fmla="val 3302"/>
            </a:avLst>
          </a:prstGeom>
          <a:noFill/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0550" y="2328862"/>
            <a:ext cx="149155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82105" y="2328862"/>
            <a:ext cx="221158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3691" y="2328862"/>
            <a:ext cx="5166270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59962" y="2328862"/>
            <a:ext cx="2141487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0550" y="3260228"/>
            <a:ext cx="149155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82105" y="3260228"/>
            <a:ext cx="221158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3691" y="3260228"/>
            <a:ext cx="5166270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59962" y="3260228"/>
            <a:ext cx="2141487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550" y="4191595"/>
            <a:ext cx="149155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2105" y="4191595"/>
            <a:ext cx="2211585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3691" y="4191595"/>
            <a:ext cx="5166270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59962" y="4191595"/>
            <a:ext cx="2141487" cy="9525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0550" y="1685925"/>
            <a:ext cx="11010900" cy="3441799"/>
          </a:xfrm>
          <a:prstGeom prst="roundRect">
            <a:avLst>
              <a:gd name="adj" fmla="val 0"/>
            </a:avLst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90550" y="1685925"/>
          <a:ext cx="11010897" cy="3441799"/>
        </p:xfrm>
        <a:graphic>
          <a:graphicData uri="http://schemas.openxmlformats.org/drawingml/2006/table">
            <a:tbl>
              <a:tblPr/>
              <a:tblGrid>
                <a:gridCol w="149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1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0449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Urbanist"/>
                        </a:rPr>
                        <a:t>Scenario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Urbanist"/>
                        </a:rPr>
                        <a:t>Trigger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Urbanist"/>
                        </a:rPr>
                        <a:t>System Behavior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Urbanist"/>
                        </a:rPr>
                        <a:t>Data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0449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9CA3AF"/>
                          </a:solidFill>
                          <a:latin typeface="Inter"/>
                        </a:rPr>
                        <a:t>Graceful Exit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User types q or Ctrl+C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Signal caught. Main loop breaks cleanly. File descriptors are closed safely via code.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0B981"/>
                          </a:solidFill>
                          <a:latin typeface="Inter"/>
                        </a:rPr>
                        <a:t>100% Safe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0449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9CA3AF"/>
                          </a:solidFill>
                          <a:latin typeface="Inter"/>
                        </a:rPr>
                        <a:t>Hard Crash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kill -9 or sudden power out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OS kills process instantly. No cleanup code or signal handlers are allowed to execute.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10B981"/>
                          </a:solidFill>
                          <a:latin typeface="Inter"/>
                        </a:rPr>
                        <a:t>100% Safe (via fdatasync)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452">
                <a:tc>
                  <a:txBody>
                    <a:bodyPr/>
                    <a:lstStyle/>
                    <a:p>
                      <a:pPr algn="l"/>
                      <a:r>
                        <a:rPr sz="1425" b="1" i="0" u="none">
                          <a:solidFill>
                            <a:srgbClr val="9CA3AF"/>
                          </a:solidFill>
                          <a:latin typeface="Inter"/>
                        </a:rPr>
                        <a:t>Storage Failure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Disk Full / I/O Hardware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write() or fdatasync() catches OS error and returns -1. Memory is bypassed.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25" b="0" i="0" u="none">
                          <a:solidFill>
                            <a:srgbClr val="9CA3AF"/>
                          </a:solidFill>
                          <a:latin typeface="Inter"/>
                        </a:rPr>
                        <a:t>Order Rejected Safely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System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Behaviour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1025" y="1676400"/>
            <a:ext cx="5276850" cy="4600575"/>
          </a:xfrm>
          <a:prstGeom prst="roundRect">
            <a:avLst>
              <a:gd name="adj" fmla="val 248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34125" y="1676400"/>
            <a:ext cx="5276850" cy="4600575"/>
          </a:xfrm>
          <a:prstGeom prst="roundRect">
            <a:avLst>
              <a:gd name="adj" fmla="val 2484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3563987"/>
            <a:ext cx="4591050" cy="1104900"/>
          </a:xfrm>
          <a:prstGeom prst="roundRect">
            <a:avLst>
              <a:gd name="adj" fmla="val 6896"/>
            </a:avLst>
          </a:prstGeom>
          <a:solidFill>
            <a:srgbClr val="0B0E1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7025" y="4527649"/>
            <a:ext cx="4591050" cy="704850"/>
          </a:xfrm>
          <a:prstGeom prst="roundRect">
            <a:avLst>
              <a:gd name="adj" fmla="val 10810"/>
            </a:avLst>
          </a:prstGeom>
          <a:solidFill>
            <a:srgbClr val="0B0E14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6109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3F4F6"/>
                </a:solidFill>
                <a:latin typeface="Urbanist"/>
              </a:rPr>
              <a:t>Testing &amp; </a:t>
            </a:r>
            <a:r>
              <a:rPr sz="3600" b="1" i="0" u="none">
                <a:solidFill>
                  <a:srgbClr val="3B82F6"/>
                </a:solidFill>
                <a:latin typeface="Urbanist"/>
              </a:rP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019300"/>
            <a:ext cx="602575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Compilation &amp; Standard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457450"/>
            <a:ext cx="5738812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Tool: </a:t>
            </a:r>
            <a:r>
              <a:rPr sz="1200" b="1" i="0" u="none">
                <a:solidFill>
                  <a:srgbClr val="F3F4F6"/>
                </a:solidFill>
                <a:latin typeface="Inter"/>
              </a:rPr>
              <a:t>gcc -Wall -O2 crash_safe.c -o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842170"/>
            <a:ext cx="46863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Graceful Test: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Run the binary, execute trades, press 'q'. Restart the system.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706862"/>
            <a:ext cx="440055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3E88D"/>
                </a:solidFill>
                <a:latin typeface="Inter"/>
              </a:rPr>
              <a:t>&gt; ./engine</a:t>
            </a:r>
            <a:r>
              <a:t>
</a:t>
            </a:r>
            <a:r>
              <a:rPr sz="1200" b="0" i="0" u="none">
                <a:latin typeface="Inter"/>
              </a:rPr>
              <a:t>--- Starting Crash Recovery ---</a:t>
            </a:r>
            <a:r>
              <a:t>
</a:t>
            </a:r>
            <a:r>
              <a:rPr sz="1200" b="0" i="0" u="none">
                <a:latin typeface="Inter"/>
              </a:rPr>
              <a:t>[Recovered] ID: 1 | B 50 AAPL @ $155.00</a:t>
            </a:r>
            <a:r>
              <a:t>
</a:t>
            </a:r>
            <a:r>
              <a:rPr sz="1200" b="0" i="0" u="none">
                <a:latin typeface="Inter"/>
              </a:rPr>
              <a:t>Recovery Complete. Total Orders: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2019300"/>
            <a:ext cx="55149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Disaster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2457450"/>
            <a:ext cx="46863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Crash Trigger: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Execute trades, then run </a:t>
            </a:r>
            <a:r>
              <a:rPr sz="1200" b="0" i="0" u="none">
                <a:solidFill>
                  <a:srgbClr val="9CA3AF"/>
                </a:solidFill>
                <a:latin typeface="Inter"/>
              </a:rPr>
              <a:t>kill -9 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from a secondary terminal.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3131641"/>
            <a:ext cx="46863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Validation:</a:t>
            </a:r>
            <a:r>
              <a:rPr sz="1425" b="0" i="0" u="none">
                <a:solidFill>
                  <a:srgbClr val="9CA3AF"/>
                </a:solidFill>
                <a:latin typeface="Inter"/>
              </a:rPr>
              <a:t> Restarting the engine proves all trades executed milliseconds before the crash are perfectly recovered.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4142928"/>
            <a:ext cx="5514975" cy="289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F3F4F6"/>
                </a:solidFill>
                <a:latin typeface="Inter"/>
              </a:rPr>
              <a:t>Binary Inspection: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9900" y="4670524"/>
            <a:ext cx="44005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89DDFF"/>
                </a:solidFill>
                <a:latin typeface="Inter"/>
              </a:rPr>
              <a:t>&gt; hexdump -C engine_wal.dat</a:t>
            </a:r>
            <a:r>
              <a:t>
</a:t>
            </a:r>
            <a:r>
              <a:rPr sz="1200" b="0" i="0" u="none">
                <a:latin typeface="Inter"/>
              </a:rPr>
              <a:t>0000000 01 00 00 00 41 41 50 4c ... AAPL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850975"/>
            <a:ext cx="11029950" cy="1702891"/>
          </a:xfrm>
          <a:prstGeom prst="roundRect">
            <a:avLst>
              <a:gd name="adj" fmla="val 6712"/>
            </a:avLst>
          </a:prstGeom>
          <a:solidFill>
            <a:srgbClr val="111827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81025" y="3934866"/>
            <a:ext cx="5276850" cy="2281832"/>
          </a:xfrm>
          <a:prstGeom prst="roundRect">
            <a:avLst>
              <a:gd name="adj" fmla="val 5009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4125" y="3934866"/>
            <a:ext cx="5276850" cy="2281832"/>
          </a:xfrm>
          <a:prstGeom prst="roundRect">
            <a:avLst>
              <a:gd name="adj" fmla="val 5009"/>
            </a:avLst>
          </a:prstGeom>
          <a:solidFill>
            <a:srgbClr val="111827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641300"/>
            <a:ext cx="11610975" cy="733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FFFFFF"/>
                </a:solidFill>
                <a:latin typeface="Urbanist"/>
              </a:rPr>
              <a:t>Conclusion &amp;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193875"/>
            <a:ext cx="112680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82F6"/>
                </a:solidFill>
                <a:latin typeface="Urbanist"/>
              </a:rPr>
              <a:t>Key Project Achievement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632025"/>
            <a:ext cx="104394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Successfully implemented fundamental database durability (the 'D' in ACID) entirely from scratch using raw OS POSIX system calls, completely bypassing standard library abstractions.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277766"/>
            <a:ext cx="602575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The Trade-off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715916"/>
            <a:ext cx="4686300" cy="868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We sacrificed absolute maximum system throughput (due to blocking hardware disk I/O on every single order) to gain 100% guaranteed crash survivability.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4277766"/>
            <a:ext cx="5514975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Urbanist"/>
              </a:rPr>
              <a:t>Future Architecture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715916"/>
            <a:ext cx="4686300" cy="1157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CA3AF"/>
                </a:solidFill>
                <a:latin typeface="Inter"/>
              </a:rPr>
              <a:t>To scale to millions of TPS, the next step is implementing a Lock-Free Ring Buffer to batch orders, allowing the OS to sync 1,000+ orders to disk simultaneously.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1158</Words>
  <Application>Microsoft Office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Urbanist</vt:lpstr>
      <vt:lpstr>Inter</vt:lpstr>
      <vt:lpstr>Calibri</vt:lpstr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Naga Lakshmi</cp:lastModifiedBy>
  <cp:revision>2</cp:revision>
  <dcterms:created xsi:type="dcterms:W3CDTF">2013-01-27T09:14:16Z</dcterms:created>
  <dcterms:modified xsi:type="dcterms:W3CDTF">2026-10-09T12:54:52Z</dcterms:modified>
  <cp:category/>
</cp:coreProperties>
</file>